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这一页先交代选题、课程属性和我的核心关注点，也就是把 AI 替代问题放回劳动者主体性的视角中来讨论。
- 后面整场答辩会围绕一个主线展开：AI 带来的不只是岗位变化，更是劳动过程、劳动价值和劳动者地位的重组。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我先把问题意识讲清楚，公共讨论常问的是岗位会不会消失，但这其实只抓住了表层现象。
- 更深的问题是，AI 正在重写工作内容、评价标准和规则解释权，所以本文真正讨论的是主体性问题而不是单纯的失业焦虑。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这一页主要说明为什么这个问题在当下必须被认真讨论，国际研究已经表明 AI 对就业的影响正在从数量问题转向质量问题。
- 放到中国语境里，我们不能只看效率提升，还要看它是否符合高质量充分就业、共同富裕和以人民为中心的发展取向。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在理论上，我主要借用马克思关于劳动异化的分析框架来理解 AI 时代主体性受压的具体表现。
- 这四个维度分别对应成果归属、过程控制、自我发展和社会关系，它们共同构成了劳动者主体性困境的理论坐标。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方法上，本文采用社会主体研究方法，不把技术当成孤立变量，而是把现实的人及其社会关系放在分析中心。
- 这四项原则帮助我避免两种偏差：一是技术决定论，二是把一切问题都简单归结为技术本身。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这一页是全文的一个关键判断，现实中 AI 替代更多表现为岗位内部的任务拆分，而不是岗位整体突然消失。
- 也正因为如此，劳动者往往是在还留在原岗位的情况下，被推入新的责任分配和过程控制结构之中。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这里我先做一个经典岗位层面的概括，AI 更容易冲击的往往不是所谓价值低的劳动，而是规则更清晰、流程更稳定的劳动。
- 所以问题的关键不是岗位高低，而是任务是否可被标准化和可被系统管理。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接下来我把视角收进信息行业，因为软件工程是 AI 进入最快、也最能体现提效与压强并存的场域。
- 开发、测试和运维都被工具增强了，但三类岗位共同面对的是责任上移和主体性空间收缩。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软件开发表面上最容易讲成一个提效故事，但如果组织治理不变，提效往往会迅速转化为更高的交付压强。
- 也就是说，开发者并不是因为工具更强就更自由，反而可能承担更多审阅、安全和架构责任。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测试和运维特别能说明另一个问题，工具增强并没有取消人工劳动，很多时候只是把人推向最后兜底的位置。
- 因此这些岗位的主体性困境，恰恰体现在风险责任越来越集中，而职业承认和成长空间并没有同步上升。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第一个案例主要说明 AI 确实能在特定任务上带来显著的生产率提升，这一点没有必要回避。
- 但我要强调的是，效率提升只是事实的一面，它并不能自动推出劳动者主体性一定得到增强。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第二个案例进一步补上另一面，也就是 AI 会把更多产出推入协作系统，但协作成本并不会同步下降。
- 这说明劳动强度可能从写代码转移到解释、沟通和持续对齐，主体性受压的形式只是发生了变化。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有了前面的分析和案例之后，这一页是做机制总结，说明主体性困境为什么不是一个单纯的技术后果。
- 技术提供了重构可能，组织决定如何使用，制度决定是否有保障，社会结构则决定不同群体承担怎样的转型成本。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如果说前面是在解释问题如何形成，这一页就是回应问题如何被修复，也就是主体性如何重塑。
- 我的核心主张是把治理目标从单纯追求技术可行，转向确保劳动者可发展、可参与、也有制度托底。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最后我把全文收束到一句话：AI 时代真正重要的，不是人无限度适应技术，而是技术必须服务人的全面发展。
- 因此本文的结论并不是拒绝技术，而是强调要在马克思主义立场上，把技术进步转化为劳动者主体性重塑的新条件。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41412">
              <a:alpha val="0"/>
            </a:srgbClr>
          </a:solidFill>
          <a:ln w="12700">
            <a:solidFill>
              <a:srgbClr val="3A3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MARXISM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C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098280" y="694944"/>
            <a:ext cx="1508760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950976"/>
            <a:ext cx="2331720" cy="128016"/>
          </a:xfrm>
          <a:prstGeom prst="rect">
            <a:avLst/>
          </a:prstGeom>
          <a:solidFill>
            <a:srgbClr val="4A5A37"/>
          </a:solidFill>
          <a:ln w="12700">
            <a:solidFill>
              <a:srgbClr val="4A5A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98280" y="1207008"/>
            <a:ext cx="1005840" cy="128016"/>
          </a:xfrm>
          <a:prstGeom prst="rect">
            <a:avLst/>
          </a:prstGeom>
          <a:solidFill>
            <a:srgbClr val="EEE8DB"/>
          </a:solidFill>
          <a:ln w="12700">
            <a:solidFill>
              <a:srgbClr val="EEE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115568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6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人工智能替代浪潮下</a:t>
            </a:r>
            <a:endParaRPr lang="en-US" sz="2496" dirty="0"/>
          </a:p>
          <a:p>
            <a:pPr algn="l" indent="0" marL="0">
              <a:buNone/>
            </a:pPr>
            <a:r>
              <a:rPr lang="en-US" sz="2496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被替代劳动者的主体性困境与重塑</a:t>
            </a:r>
            <a:endParaRPr lang="en-US" sz="2496" dirty="0"/>
          </a:p>
        </p:txBody>
      </p:sp>
      <p:sp>
        <p:nvSpPr>
          <p:cNvPr id="13" name="Text 11"/>
          <p:cNvSpPr/>
          <p:nvPr/>
        </p:nvSpPr>
        <p:spPr>
          <a:xfrm>
            <a:off x="658368" y="3255264"/>
            <a:ext cx="5394960" cy="74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8CD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课堂答辩将焦点从“岗位会不会消失”推进到“劳动者如何失去并重建主体性”。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" y="4663440"/>
            <a:ext cx="5394960" cy="1078992"/>
          </a:xfrm>
          <a:prstGeom prst="rect">
            <a:avLst/>
          </a:prstGeom>
          <a:solidFill>
            <a:srgbClr val="242420"/>
          </a:solidFill>
          <a:ln w="12700">
            <a:solidFill>
              <a:srgbClr val="2424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846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3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姓名：XXX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50474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3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学号：XXXXXXXX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5248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3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课程名称：马克思主义与社会科学方法论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449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3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任课教师：XXX 老师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56509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E3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答辩日期：2026 年 XX 月 XX 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87968" y="5413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7AD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关键词：AI 替代 / 劳动异化 / 主体性 / 人机协同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从替代焦虑到主体性问题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932688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914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SHIFT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23444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97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真正需要回答的，不只是</a:t>
            </a:r>
            <a:endParaRPr lang="en-US" sz="2697" dirty="0"/>
          </a:p>
          <a:p>
            <a:pPr algn="l" indent="0" marL="0">
              <a:buNone/>
            </a:pPr>
            <a:r>
              <a:rPr lang="en-US" sz="2697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“岗位会不会消失”</a:t>
            </a:r>
            <a:endParaRPr lang="en-US" sz="2697" dirty="0"/>
          </a:p>
        </p:txBody>
      </p:sp>
      <p:sp>
        <p:nvSpPr>
          <p:cNvPr id="12" name="Text 10"/>
          <p:cNvSpPr/>
          <p:nvPr/>
        </p:nvSpPr>
        <p:spPr>
          <a:xfrm>
            <a:off x="676656" y="2788920"/>
            <a:ext cx="4526280" cy="1015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更深层的变化在于：工作内容被拆分、评价标准被重写、劳动控制更细密，劳动者在留岗状态下也可能进入新的受压结构。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6080760" y="987552"/>
            <a:ext cx="5440680" cy="4434840"/>
          </a:xfrm>
          <a:prstGeom prst="rect">
            <a:avLst/>
          </a:prstGeom>
          <a:solidFill>
            <a:srgbClr val="E5DED0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3533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2084832"/>
            <a:ext cx="2240280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公共讨论聚焦岗位存废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26974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2514600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现实变化落在任务重构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40416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4773168"/>
            <a:ext cx="2423160" cy="47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核心矛盾是主体地位受压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64515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76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结论先行：AI 冲击的关键，不只是“有没有工作”，更是“工作变成什么样、谁掌握规则解释权”。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41412">
              <a:alpha val="0"/>
            </a:srgbClr>
          </a:solidFill>
          <a:ln w="12700">
            <a:solidFill>
              <a:srgbClr val="3A3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现实压力与价值坐标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C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70432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 AI 与就业时，</a:t>
            </a:r>
            <a:endParaRPr lang="en-US" sz="2595" dirty="0"/>
          </a:p>
          <a:p>
            <a:pPr algn="l" indent="0" marL="0">
              <a:buNone/>
            </a:pPr>
            <a:r>
              <a:rPr lang="en-US" sz="25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视角必须从数量转向质量</a:t>
            </a:r>
            <a:endParaRPr lang="en-US" sz="2595" dirty="0"/>
          </a:p>
        </p:txBody>
      </p:sp>
      <p:sp>
        <p:nvSpPr>
          <p:cNvPr id="12" name="Text 10"/>
          <p:cNvSpPr/>
          <p:nvPr/>
        </p:nvSpPr>
        <p:spPr>
          <a:xfrm>
            <a:off x="676656" y="2697480"/>
            <a:ext cx="466344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AD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国际判断已共同指向一点：未来更值得关注的，不只是岗位是否减少，而是工作内容、工作质量和劳动尊严如何改变。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897880" y="1051560"/>
            <a:ext cx="5440680" cy="4343400"/>
          </a:xfrm>
          <a:prstGeom prst="rect">
            <a:avLst/>
          </a:prstGeom>
          <a:solidFill>
            <a:srgbClr val="242420"/>
          </a:solidFill>
          <a:ln w="12700">
            <a:solidFill>
              <a:srgbClr val="2424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2984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1E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91072" y="2029968"/>
            <a:ext cx="2148840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7DD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IMF：全球就业与 AI 存在暴露关系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15400" y="12984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15400" y="2029968"/>
            <a:ext cx="1874520" cy="648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7DDC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WEF：未来几年岗位将发生显著变化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3017520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944368"/>
            <a:ext cx="4206240" cy="70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ILO：更多职业面临的是工作内容与工作质量变化，而非简单消失。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3822192"/>
            <a:ext cx="128016" cy="128016"/>
          </a:xfrm>
          <a:prstGeom prst="rect">
            <a:avLst/>
          </a:prstGeom>
          <a:solidFill>
            <a:srgbClr val="C6F08B"/>
          </a:solidFill>
          <a:ln w="12700">
            <a:solidFill>
              <a:srgbClr val="C6F0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3749040"/>
            <a:ext cx="4251960" cy="70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中国语境中的价值坐标是高质量充分就业、共同富裕与以人民为中心。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062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DA2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资料来源：IMF(2024)；ILO(2023)；WEF(2023)；国家发展改革委(2025)。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THEORY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马克思劳动异化理论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ALIENATION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52144"/>
            <a:ext cx="5577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95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时代的主体性困境，</a:t>
            </a:r>
            <a:endParaRPr lang="en-US" sz="2395" dirty="0"/>
          </a:p>
          <a:p>
            <a:pPr algn="l" indent="0" marL="0">
              <a:buNone/>
            </a:pPr>
            <a:r>
              <a:rPr lang="en-US" sz="2395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可以在劳动异化的四个维度中被重新辨认</a:t>
            </a:r>
            <a:endParaRPr lang="en-US" sz="2395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4800600" cy="1481328"/>
          </a:xfrm>
          <a:prstGeom prst="rect">
            <a:avLst/>
          </a:prstGeom>
          <a:solidFill>
            <a:srgbClr val="EFE7D8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889504"/>
            <a:ext cx="1645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产品异化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3401568"/>
            <a:ext cx="4297680" cy="6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成果沉淀为数据、模型、代码资产，劳动者对成果归属感和价值证明能力下降。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199632" y="2743200"/>
            <a:ext cx="4800600" cy="1481328"/>
          </a:xfrm>
          <a:prstGeom prst="rect">
            <a:avLst/>
          </a:prstGeom>
          <a:solidFill>
            <a:srgbClr val="E6E0D2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31152" y="2889504"/>
            <a:ext cx="1645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过程异化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401568"/>
            <a:ext cx="4297680" cy="6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工具与数字管理同步进入劳动过程，自主决策空间被压缩，过程更易被外部控制。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85800" y="4617720"/>
            <a:ext cx="4800600" cy="1481328"/>
          </a:xfrm>
          <a:prstGeom prst="rect">
            <a:avLst/>
          </a:prstGeom>
          <a:solidFill>
            <a:srgbClr val="EFE7D8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4764024"/>
            <a:ext cx="1645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类本质异化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5276088"/>
            <a:ext cx="4297680" cy="6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创造性劳动被拆解为确认、兜底与标准化执行，成长空间被挤压。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99632" y="4617720"/>
            <a:ext cx="4800600" cy="1481328"/>
          </a:xfrm>
          <a:prstGeom prst="rect">
            <a:avLst/>
          </a:prstGeom>
          <a:solidFill>
            <a:srgbClr val="E6E0D2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800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4764024"/>
            <a:ext cx="1645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社会关系异化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5276088"/>
            <a:ext cx="4297680" cy="67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协作关系更加流程化、评分化，职业共同体与稳定认同更难维持。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METHOD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社会主体研究方法四项原则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本文不是把技术当作抽象变量，</a:t>
            </a:r>
            <a:endParaRPr lang="en-US" sz="2296" dirty="0"/>
          </a:p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而是把技术、劳动者、组织和制度放在同一视野中</a:t>
            </a:r>
            <a:endParaRPr lang="en-US" sz="2296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33856" y="2779776"/>
            <a:ext cx="146304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145536"/>
            <a:ext cx="4480560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28416"/>
            <a:ext cx="4480560" cy="67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从真实产业链、流程与岗位场景出发，拒绝把 AI 神秘化为万能钥匙。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630936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84848" y="2779776"/>
            <a:ext cx="146304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3145536"/>
            <a:ext cx="4480560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328416"/>
            <a:ext cx="4480560" cy="47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把劳动者的权利、尊严、获得感和能动性纳入评价尺度。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658368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33856" y="4681728"/>
            <a:ext cx="146304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整体性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5047488"/>
            <a:ext cx="4480560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5230368"/>
            <a:ext cx="4480560" cy="47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看到技术之外的组织治理、制度供给与社会结构责任。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6309360" y="46634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784848" y="4681728"/>
            <a:ext cx="146304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5047488"/>
            <a:ext cx="4480560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5230368"/>
            <a:ext cx="4480560" cy="47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承认转型期矛盾的阶段性，强调通过治理实现再平衡。</a:t>
            </a:r>
            <a:endParaRPr lang="en-US" sz="12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41412">
              <a:alpha val="0"/>
            </a:srgbClr>
          </a:solidFill>
          <a:ln w="12700">
            <a:solidFill>
              <a:srgbClr val="3A3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RESTRUCTURING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替代的真实形式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C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APPROACH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70432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现实中更常见的不是岗位整体消失，</a:t>
            </a:r>
            <a:endParaRPr lang="en-US" sz="2395" dirty="0"/>
          </a:p>
          <a:p>
            <a:pPr algn="l" indent="0" marL="0">
              <a:buNone/>
            </a:pPr>
            <a:r>
              <a:rPr lang="en-US" sz="23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而是任务被重新切割与再组织</a:t>
            </a:r>
            <a:endParaRPr lang="en-US" sz="2395" dirty="0"/>
          </a:p>
        </p:txBody>
      </p:sp>
      <p:sp>
        <p:nvSpPr>
          <p:cNvPr id="12" name="Text 10"/>
          <p:cNvSpPr/>
          <p:nvPr/>
        </p:nvSpPr>
        <p:spPr>
          <a:xfrm>
            <a:off x="676656" y="2697480"/>
            <a:ext cx="4754880" cy="73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dirty="0">
                <a:solidFill>
                  <a:srgbClr val="CAD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“仍在岗”并不意味着主体性没有受压。劳动者往往是在工作名称不变的情况下，进入新的控制与责任结构。</a:t>
            </a:r>
            <a:endParaRPr lang="en-US" sz="142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993392"/>
            <a:ext cx="1554480" cy="6583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02552" y="2148840"/>
            <a:ext cx="1243584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岗位整体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1312" y="1993392"/>
            <a:ext cx="1627632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75904" y="2148840"/>
            <a:ext cx="131673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任务拆分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6960" y="1993392"/>
            <a:ext cx="1536192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131552" y="2148840"/>
            <a:ext cx="1225296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流程重写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73952" y="3154680"/>
            <a:ext cx="1417320" cy="1691640"/>
          </a:xfrm>
          <a:prstGeom prst="rect">
            <a:avLst/>
          </a:prstGeom>
          <a:solidFill>
            <a:srgbClr val="242420"/>
          </a:solidFill>
          <a:ln w="12700">
            <a:solidFill>
              <a:srgbClr val="3C403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19872" y="3154680"/>
            <a:ext cx="1481328" cy="1691640"/>
          </a:xfrm>
          <a:prstGeom prst="rect">
            <a:avLst/>
          </a:prstGeom>
          <a:solidFill>
            <a:srgbClr val="242420"/>
          </a:solidFill>
          <a:ln w="12700">
            <a:solidFill>
              <a:srgbClr val="3C40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02368" y="3154680"/>
            <a:ext cx="1572768" cy="1691640"/>
          </a:xfrm>
          <a:prstGeom prst="rect">
            <a:avLst/>
          </a:prstGeom>
          <a:solidFill>
            <a:srgbClr val="242420"/>
          </a:solidFill>
          <a:ln w="12700">
            <a:solidFill>
              <a:srgbClr val="3C403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02552" y="3401568"/>
            <a:ext cx="77724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6F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56248" y="3986784"/>
            <a:ext cx="1234440" cy="60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模板化、规则化任务先被接管</a:t>
            </a:r>
            <a:endParaRPr lang="en-US" sz="1020" dirty="0"/>
          </a:p>
        </p:txBody>
      </p:sp>
      <p:sp>
        <p:nvSpPr>
          <p:cNvPr id="24" name="Text 19"/>
          <p:cNvSpPr/>
          <p:nvPr/>
        </p:nvSpPr>
        <p:spPr>
          <a:xfrm>
            <a:off x="8540496" y="3401568"/>
            <a:ext cx="640080" cy="53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F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247888" y="3986784"/>
            <a:ext cx="1225296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复杂任务被工具加速，人转向审阅与判断</a:t>
            </a:r>
            <a:endParaRPr lang="en-US" sz="1020" dirty="0"/>
          </a:p>
        </p:txBody>
      </p:sp>
      <p:sp>
        <p:nvSpPr>
          <p:cNvPr id="26" name="Text 21"/>
          <p:cNvSpPr/>
          <p:nvPr/>
        </p:nvSpPr>
        <p:spPr>
          <a:xfrm>
            <a:off x="9994392" y="3383280"/>
            <a:ext cx="107899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F0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剩余复杂劳动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930384" y="3968496"/>
            <a:ext cx="1325880" cy="60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责任、例外与兜底被更多地留给劳动者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JOBS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哪些劳动更易被重构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STANDARDIZABLE TASKS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97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 AI 优先冲击的，往往不是“价值较低”的岗位，</a:t>
            </a:r>
            <a:endParaRPr lang="en-US" sz="2197" dirty="0"/>
          </a:p>
          <a:p>
            <a:pPr algn="l" indent="0" marL="0">
              <a:buNone/>
            </a:pPr>
            <a:r>
              <a:rPr lang="en-US" sz="2197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而是“任务更容易被规则化”的岗位</a:t>
            </a:r>
            <a:endParaRPr lang="en-US" sz="2197" dirty="0"/>
          </a:p>
        </p:txBody>
      </p:sp>
      <p:sp>
        <p:nvSpPr>
          <p:cNvPr id="12" name="Shape 10"/>
          <p:cNvSpPr/>
          <p:nvPr/>
        </p:nvSpPr>
        <p:spPr>
          <a:xfrm>
            <a:off x="713232" y="2788920"/>
            <a:ext cx="2971800" cy="2029968"/>
          </a:xfrm>
          <a:prstGeom prst="rect">
            <a:avLst/>
          </a:prstGeom>
          <a:solidFill>
            <a:srgbClr val="F0EBDD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89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3182112"/>
            <a:ext cx="1737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文职类岗位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703320"/>
            <a:ext cx="2560320" cy="6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资料录入、模板写作、初步翻译等任务规则明确、格式稳定。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133088" y="2788920"/>
            <a:ext cx="2971800" cy="2029968"/>
          </a:xfrm>
          <a:prstGeom prst="rect">
            <a:avLst/>
          </a:prstGeom>
          <a:solidFill>
            <a:srgbClr val="EBE4D6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889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15968" y="3182112"/>
            <a:ext cx="1737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标准化服务岗位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15968" y="3703320"/>
            <a:ext cx="2560320" cy="6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客服话务、流程办理、常见问题咨询可与知识库、规则引擎结合。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552944" y="2788920"/>
            <a:ext cx="2971800" cy="2029968"/>
          </a:xfrm>
          <a:prstGeom prst="rect">
            <a:avLst/>
          </a:prstGeom>
          <a:solidFill>
            <a:srgbClr val="F0EBDD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35824" y="2889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35824" y="3182112"/>
            <a:ext cx="1737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物流与流程岗位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35824" y="3703320"/>
            <a:ext cx="2560320" cy="6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系统调度与设备自动化重构劳动，把体力投入转向异常协同。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749808" y="5303520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76D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共性判断：可标准化、可拆解、可度量的任务越多，岗位内部越容易发生结构性重组。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SOFTWARE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信息行业为何成为关键场域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FIELD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47548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95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软件工程是 AI 进入速度最快、</a:t>
            </a:r>
            <a:endParaRPr lang="en-US" sz="2395" dirty="0"/>
          </a:p>
          <a:p>
            <a:pPr algn="l" indent="0" marL="0">
              <a:buNone/>
            </a:pPr>
            <a:r>
              <a:rPr lang="en-US" sz="2395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影响最集中也最复杂的劳动场域</a:t>
            </a:r>
            <a:endParaRPr lang="en-US" sz="2395" dirty="0"/>
          </a:p>
        </p:txBody>
      </p:sp>
      <p:sp>
        <p:nvSpPr>
          <p:cNvPr id="12" name="Text 10"/>
          <p:cNvSpPr/>
          <p:nvPr/>
        </p:nvSpPr>
        <p:spPr>
          <a:xfrm>
            <a:off x="676656" y="2651760"/>
            <a:ext cx="4206240" cy="74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表面提效与深层责任上移同步发生，这是本文将信息行业作为重点分析对象的原因。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44768" y="1325880"/>
            <a:ext cx="1600200" cy="4114800"/>
          </a:xfrm>
          <a:prstGeom prst="rect">
            <a:avLst/>
          </a:prstGeom>
          <a:solidFill>
            <a:srgbClr val="EEE7D9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1234440" cy="0"/>
          </a:xfrm>
          <a:prstGeom prst="line">
            <a:avLst/>
          </a:prstGeom>
          <a:noFill/>
          <a:ln w="12700">
            <a:solidFill>
              <a:srgbClr val="4A5A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340864"/>
            <a:ext cx="1207008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样板代码、注释、接口对接被加速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281928" y="3675888"/>
            <a:ext cx="1207008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需求澄清、架构与审阅责任上移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028432" y="1325880"/>
            <a:ext cx="1600200" cy="4114800"/>
          </a:xfrm>
          <a:prstGeom prst="rect">
            <a:avLst/>
          </a:prstGeom>
          <a:solidFill>
            <a:srgbClr val="E5F0D4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15544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93024" y="2057400"/>
            <a:ext cx="1234440" cy="0"/>
          </a:xfrm>
          <a:prstGeom prst="line">
            <a:avLst/>
          </a:prstGeom>
          <a:noFill/>
          <a:ln w="12700">
            <a:solidFill>
              <a:srgbClr val="4A5A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5592" y="2340864"/>
            <a:ext cx="1207008" cy="80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用例生成、日志分析、缺陷定位被增强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165592" y="3675888"/>
            <a:ext cx="1207008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质量兜底压力更集中地落到个人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912096" y="1325880"/>
            <a:ext cx="1600200" cy="4114800"/>
          </a:xfrm>
          <a:prstGeom prst="rect">
            <a:avLst/>
          </a:prstGeom>
          <a:solidFill>
            <a:srgbClr val="EEE7D9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6688" y="155448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076688" y="2057400"/>
            <a:ext cx="1234440" cy="0"/>
          </a:xfrm>
          <a:prstGeom prst="line">
            <a:avLst/>
          </a:prstGeom>
          <a:noFill/>
          <a:ln w="12700">
            <a:solidFill>
              <a:srgbClr val="4A5A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9256" y="2340864"/>
            <a:ext cx="1207008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告警摘要、变更影响分析更快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0049256" y="3675888"/>
            <a:ext cx="1207008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复杂系统仍依赖隐性经验与情境判断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41412">
              <a:alpha val="0"/>
            </a:srgbClr>
          </a:solidFill>
          <a:ln w="12700">
            <a:solidFill>
              <a:srgbClr val="3A3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DEVELOPMENT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提效如何转化为压强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C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LOOP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52144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在软件开发环节，</a:t>
            </a:r>
            <a:endParaRPr lang="en-US" sz="2395" dirty="0"/>
          </a:p>
          <a:p>
            <a:pPr algn="l" indent="0" marL="0">
              <a:buNone/>
            </a:pPr>
            <a:r>
              <a:rPr lang="en-US" sz="23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效率上升与责任上移往往是同步发生的</a:t>
            </a:r>
            <a:endParaRPr lang="en-US" sz="2395" dirty="0"/>
          </a:p>
        </p:txBody>
      </p:sp>
      <p:sp>
        <p:nvSpPr>
          <p:cNvPr id="12" name="Shape 10"/>
          <p:cNvSpPr/>
          <p:nvPr/>
        </p:nvSpPr>
        <p:spPr>
          <a:xfrm>
            <a:off x="676656" y="2944368"/>
            <a:ext cx="5166360" cy="1993392"/>
          </a:xfrm>
          <a:prstGeom prst="rect">
            <a:avLst/>
          </a:prstGeom>
          <a:solidFill>
            <a:srgbClr val="242420"/>
          </a:solidFill>
          <a:ln w="12700">
            <a:solidFill>
              <a:srgbClr val="3B3C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55264"/>
            <a:ext cx="146304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1E4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效率上升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32688" y="3895344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822192"/>
            <a:ext cx="448056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样板代码、脚手架、注释与接口对接更快完成。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2688" y="4480560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407408"/>
            <a:ext cx="448056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单个开发者的瞬时产出速度明显提高。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847088"/>
            <a:ext cx="4983480" cy="3090672"/>
          </a:xfrm>
          <a:prstGeom prst="rect">
            <a:avLst/>
          </a:prstGeom>
          <a:solidFill>
            <a:srgbClr val="EEF3E5"/>
          </a:solidFill>
          <a:ln w="12700">
            <a:solidFill>
              <a:srgbClr val="EEF3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48840"/>
            <a:ext cx="192024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责任上移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93408" y="2834640"/>
            <a:ext cx="128016" cy="128016"/>
          </a:xfrm>
          <a:prstGeom prst="rect">
            <a:avLst/>
          </a:prstGeom>
          <a:solidFill>
            <a:srgbClr val="4A5A37"/>
          </a:solidFill>
          <a:ln w="12700">
            <a:solidFill>
              <a:srgbClr val="4A5A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761488"/>
            <a:ext cx="4297680" cy="70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需求澄清、架构设计、代码审阅与安全合规被推向前台。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93408" y="3621024"/>
            <a:ext cx="128016" cy="128016"/>
          </a:xfrm>
          <a:prstGeom prst="rect">
            <a:avLst/>
          </a:prstGeom>
          <a:solidFill>
            <a:srgbClr val="4A5A37"/>
          </a:solidFill>
          <a:ln w="12700">
            <a:solidFill>
              <a:srgbClr val="4A5A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547872"/>
            <a:ext cx="4297680" cy="70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组织更容易据此抬高交付预期，学习与试错空间反而被压缩。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93408" y="4407408"/>
            <a:ext cx="128016" cy="128016"/>
          </a:xfrm>
          <a:prstGeom prst="rect">
            <a:avLst/>
          </a:prstGeom>
          <a:solidFill>
            <a:srgbClr val="D96452"/>
          </a:solidFill>
          <a:ln w="12700">
            <a:solidFill>
              <a:srgbClr val="D964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334256"/>
            <a:ext cx="4297680" cy="70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于是劳动者从“解决问题的人”退向“持续交付的人”。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QA &amp; OPS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测试与运维的主体性压力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SAFETY LINE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623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测试与运维并没有因为工具变强就变轻松，</a:t>
            </a:r>
            <a:endParaRPr lang="en-US" sz="2296" dirty="0"/>
          </a:p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很多时候恰恰相反</a:t>
            </a:r>
            <a:endParaRPr lang="en-US" sz="2296" dirty="0"/>
          </a:p>
        </p:txBody>
      </p:sp>
      <p:sp>
        <p:nvSpPr>
          <p:cNvPr id="12" name="Shape 10"/>
          <p:cNvSpPr/>
          <p:nvPr/>
        </p:nvSpPr>
        <p:spPr>
          <a:xfrm>
            <a:off x="694944" y="2798064"/>
            <a:ext cx="3749040" cy="2103120"/>
          </a:xfrm>
          <a:prstGeom prst="rect">
            <a:avLst/>
          </a:prstGeom>
          <a:solidFill>
            <a:srgbClr val="EFE8DA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测试岗位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2688" y="3749040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675888"/>
            <a:ext cx="301752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用例生成、缺陷定位和日志分析更快。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" y="4389120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315968"/>
            <a:ext cx="310896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人工测试被迫聚焦复杂缺陷复现与质量兜底。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53712" y="2798064"/>
            <a:ext cx="3749040" cy="2103120"/>
          </a:xfrm>
          <a:prstGeom prst="rect">
            <a:avLst/>
          </a:prstGeom>
          <a:solidFill>
            <a:srgbClr val="E9F0DD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运维岗位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73168" y="3749040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675888"/>
            <a:ext cx="29718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告警降噪、故障摘要、变更影响分析更高效。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4389120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315968"/>
            <a:ext cx="30632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复杂系统的情境判断与隐性经验仍无法被完全替代。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1965960"/>
            <a:ext cx="2834640" cy="2944368"/>
          </a:xfrm>
          <a:prstGeom prst="rect">
            <a:avLst/>
          </a:prstGeom>
          <a:solidFill>
            <a:srgbClr val="141412"/>
          </a:solidFill>
          <a:ln w="12700">
            <a:solidFill>
              <a:srgbClr val="1414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68512" y="2423160"/>
            <a:ext cx="219456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最后一道保险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0" y="3154680"/>
            <a:ext cx="2148840" cy="100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dirty="0">
                <a:solidFill>
                  <a:srgbClr val="D7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当组织只强调速度与吞吐时，质量岗位和运行岗位更容易被推向高风险、强责任、弱承认的位置。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CASE 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随机对照实验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案例一证明：生成式 AI 的确能显著提升特定任务的劳动生产率</a:t>
            </a:r>
            <a:endParaRPr lang="en-US" sz="2296" dirty="0"/>
          </a:p>
        </p:txBody>
      </p:sp>
      <p:sp>
        <p:nvSpPr>
          <p:cNvPr id="12" name="Shape 10"/>
          <p:cNvSpPr/>
          <p:nvPr/>
        </p:nvSpPr>
        <p:spPr>
          <a:xfrm>
            <a:off x="749808" y="2743200"/>
            <a:ext cx="3840480" cy="2331720"/>
          </a:xfrm>
          <a:prstGeom prst="rect">
            <a:avLst/>
          </a:prstGeom>
          <a:solidFill>
            <a:srgbClr val="ECF4DF"/>
          </a:solidFill>
          <a:ln w="12700">
            <a:solidFill>
              <a:srgbClr val="D6E3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063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078992" y="3886200"/>
            <a:ext cx="2560320" cy="69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HTTP server 任务的速度提升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64608" y="2743200"/>
            <a:ext cx="5577840" cy="2331720"/>
          </a:xfrm>
          <a:prstGeom prst="rect">
            <a:avLst/>
          </a:prstGeom>
          <a:solidFill>
            <a:srgbClr val="F0EADB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3163824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090672"/>
            <a:ext cx="4754880" cy="4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 AI 在结构明确、目标清晰的任务上可以明显提高效率。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38928" y="3803904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3730752"/>
            <a:ext cx="4754880" cy="4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但效率提升并不会自动转化为劳动者主体性增强。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38928" y="4443984"/>
            <a:ext cx="128016" cy="128016"/>
          </a:xfrm>
          <a:prstGeom prst="rect">
            <a:avLst/>
          </a:prstGeom>
          <a:solidFill>
            <a:srgbClr val="D96452"/>
          </a:solidFill>
          <a:ln w="12700">
            <a:solidFill>
              <a:srgbClr val="D964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4370832"/>
            <a:ext cx="4754880" cy="67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如果组织评价仍只围绕速度和数量，劳动者的价值更容易被工具遮蔽。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062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0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资料来源：Peng et al., The Impact of AI on Developer Productivity, 2023。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41412">
              <a:alpha val="0"/>
            </a:srgbClr>
          </a:solidFill>
          <a:ln w="12700">
            <a:solidFill>
              <a:srgbClr val="3A3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CASE 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开源协作中的隐藏代价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C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案例二提醒我们：</a:t>
            </a:r>
            <a:endParaRPr lang="en-US" sz="2325" dirty="0"/>
          </a:p>
          <a:p>
            <a:pPr algn="l" indent="0" marL="0">
              <a:buNone/>
            </a:pPr>
            <a:r>
              <a:rPr lang="en-US" sz="232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更多产出进入协作系统，并不代表协作成本下降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841248" y="2743200"/>
            <a:ext cx="2743200" cy="2377440"/>
          </a:xfrm>
          <a:prstGeom prst="rect">
            <a:avLst/>
          </a:prstGeom>
          <a:solidFill>
            <a:srgbClr val="E7F4D2"/>
          </a:solidFill>
          <a:ln w="12700">
            <a:solidFill>
              <a:srgbClr val="E7F4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1089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70432" y="3913632"/>
            <a:ext cx="1417320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代码贡献提升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58768" y="2743200"/>
            <a:ext cx="2743200" cy="2377440"/>
          </a:xfrm>
          <a:prstGeom prst="rect">
            <a:avLst/>
          </a:prstGeom>
          <a:solidFill>
            <a:srgbClr val="F5D9D2"/>
          </a:solidFill>
          <a:ln w="12700">
            <a:solidFill>
              <a:srgbClr val="F5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310896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151376" y="3913632"/>
            <a:ext cx="1828800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代码集成协调时间增加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2743200"/>
            <a:ext cx="4160520" cy="2377440"/>
          </a:xfrm>
          <a:prstGeom prst="rect">
            <a:avLst/>
          </a:prstGeom>
          <a:solidFill>
            <a:srgbClr val="242420"/>
          </a:solidFill>
          <a:ln w="12700">
            <a:solidFill>
              <a:srgbClr val="3C40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3182112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512" y="3108960"/>
            <a:ext cx="3520440" cy="664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推动更多代码被更快产出，同时也把更多审阅、对齐与责任划分推入协作过程。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7269480" y="3986784"/>
            <a:ext cx="128016" cy="128016"/>
          </a:xfrm>
          <a:prstGeom prst="rect">
            <a:avLst/>
          </a:prstGeom>
          <a:solidFill>
            <a:srgbClr val="D96452"/>
          </a:solidFill>
          <a:ln w="12700">
            <a:solidFill>
              <a:srgbClr val="D964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3913632"/>
            <a:ext cx="3520440" cy="664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劳动强度从“写代码”转向“解释、沟通和持续对齐”，主体性压力并未消失。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502920" y="6062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DA2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资料来源：The Impact of Generative AI on Collaborative Open-Source Software Development, 2024。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MECHANISM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技术、组织、制度与社会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LAYERS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715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主体性困境并不是单一技术问题，</a:t>
            </a:r>
            <a:endParaRPr lang="en-US" sz="2296" dirty="0"/>
          </a:p>
          <a:p>
            <a:pPr algn="l" indent="0" marL="0">
              <a:buNone/>
            </a:pPr>
            <a:r>
              <a:rPr lang="en-US" sz="22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而是四层力量嵌套后的结构性结果</a:t>
            </a:r>
            <a:endParaRPr lang="en-US" sz="2296" dirty="0"/>
          </a:p>
        </p:txBody>
      </p:sp>
      <p:sp>
        <p:nvSpPr>
          <p:cNvPr id="12" name="Shape 10"/>
          <p:cNvSpPr/>
          <p:nvPr/>
        </p:nvSpPr>
        <p:spPr>
          <a:xfrm>
            <a:off x="786384" y="2743200"/>
            <a:ext cx="10012680" cy="585216"/>
          </a:xfrm>
          <a:prstGeom prst="rect">
            <a:avLst/>
          </a:prstGeom>
          <a:solidFill>
            <a:srgbClr val="EFE7D9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852928"/>
            <a:ext cx="1143000" cy="49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技术层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2029968" y="2834640"/>
            <a:ext cx="8138160" cy="46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任务更易拆分、标准化、指标化，劳动过程更可被管理。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0976" y="3529584"/>
            <a:ext cx="9683496" cy="585216"/>
          </a:xfrm>
          <a:prstGeom prst="rect">
            <a:avLst/>
          </a:prstGeom>
          <a:solidFill>
            <a:srgbClr val="E5EED8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639312"/>
            <a:ext cx="1143000" cy="49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组织层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2194560" y="3621024"/>
            <a:ext cx="7808976" cy="46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企业可能把 AI 当作降本增效与风险转移工具，劳动者缺少规则话语权。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115568" y="4315968"/>
            <a:ext cx="9354312" cy="585216"/>
          </a:xfrm>
          <a:prstGeom prst="rect">
            <a:avLst/>
          </a:prstGeom>
          <a:solidFill>
            <a:srgbClr val="EFE7D9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4425696"/>
            <a:ext cx="1143000" cy="49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制度层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2359152" y="4407408"/>
            <a:ext cx="7479792" cy="46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劳动制度、培训体系、算法治理与社会保障更新往往慢于技术变化。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80160" y="5102352"/>
            <a:ext cx="9025128" cy="585216"/>
          </a:xfrm>
          <a:prstGeom prst="rect">
            <a:avLst/>
          </a:prstGeom>
          <a:solidFill>
            <a:srgbClr val="E5EED8"/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1328" y="5212080"/>
            <a:ext cx="1143000" cy="49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社会层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2523744" y="5193792"/>
            <a:ext cx="7150608" cy="46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教育、地域、年龄和家庭负担差异放大了不同群体的转型成本。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141412">
              <a:alpha val="0"/>
            </a:srgbClr>
          </a:solidFill>
          <a:ln w="12700">
            <a:solidFill>
              <a:srgbClr val="3A3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3A3A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PATH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AD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如何重塑主体性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C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REBUILDING SUBJECTIVITY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133856"/>
            <a:ext cx="5669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重塑主体性的关键，</a:t>
            </a:r>
            <a:endParaRPr lang="en-US" sz="2395" dirty="0"/>
          </a:p>
          <a:p>
            <a:pPr algn="l" indent="0" marL="0">
              <a:buNone/>
            </a:pPr>
            <a:r>
              <a:rPr lang="en-US" sz="2395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在于把“技术可行”转化为“劳动者可发展”</a:t>
            </a:r>
            <a:endParaRPr lang="en-US" sz="2395" dirty="0"/>
          </a:p>
        </p:txBody>
      </p:sp>
      <p:sp>
        <p:nvSpPr>
          <p:cNvPr id="12" name="Shape 10"/>
          <p:cNvSpPr/>
          <p:nvPr/>
        </p:nvSpPr>
        <p:spPr>
          <a:xfrm>
            <a:off x="786384" y="2880360"/>
            <a:ext cx="2304288" cy="2423160"/>
          </a:xfrm>
          <a:prstGeom prst="rect">
            <a:avLst/>
          </a:prstGeom>
          <a:solidFill>
            <a:srgbClr val="242420"/>
          </a:solidFill>
          <a:ln w="12700">
            <a:solidFill>
              <a:srgbClr val="404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" y="3383280"/>
            <a:ext cx="1828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技术治理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0976" y="3913632"/>
            <a:ext cx="19385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机器处理标准化任务，人保留复杂判断与必要裁量权。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39312" y="2880360"/>
            <a:ext cx="2304288" cy="2423160"/>
          </a:xfrm>
          <a:prstGeom prst="rect">
            <a:avLst/>
          </a:prstGeom>
          <a:solidFill>
            <a:srgbClr val="CFE59D"/>
          </a:solidFill>
          <a:ln w="12700">
            <a:solidFill>
              <a:srgbClr val="CFE5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0" y="3383280"/>
            <a:ext cx="1828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组织治理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03904" y="3913632"/>
            <a:ext cx="19385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考核不只看速度数量，更要纳入质量、可维护性与安全合规。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2880360"/>
            <a:ext cx="2304288" cy="2423160"/>
          </a:xfrm>
          <a:prstGeom prst="rect">
            <a:avLst/>
          </a:prstGeom>
          <a:solidFill>
            <a:srgbClr val="242420"/>
          </a:solidFill>
          <a:ln w="12700">
            <a:solidFill>
              <a:srgbClr val="404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93408" y="3383280"/>
            <a:ext cx="1828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劳动者参与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56832" y="3913632"/>
            <a:ext cx="1938528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DD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让劳动者参与绩效边界、监控规则、培训路径和流程协商。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45168" y="2880360"/>
            <a:ext cx="2304288" cy="2423160"/>
          </a:xfrm>
          <a:prstGeom prst="rect">
            <a:avLst/>
          </a:prstGeom>
          <a:solidFill>
            <a:srgbClr val="EDE6D9"/>
          </a:solidFill>
          <a:ln w="12700">
            <a:solidFill>
              <a:srgbClr val="404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8048" y="305409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6F0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46336" y="3383280"/>
            <a:ext cx="18288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制度供给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09760" y="3913632"/>
            <a:ext cx="1938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用就业服务、技能提升与社会保障托底转型风险并扩大机会公平。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5F2EA">
              <a:alpha val="0"/>
            </a:srgbClr>
          </a:solidFill>
          <a:ln w="12700">
            <a:solidFill>
              <a:srgbClr val="D4CE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274320"/>
            <a:ext cx="0" cy="630936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897880"/>
            <a:ext cx="11643055" cy="0"/>
          </a:xfrm>
          <a:prstGeom prst="line">
            <a:avLst/>
          </a:prstGeom>
          <a:noFill/>
          <a:ln w="12700">
            <a:solidFill>
              <a:srgbClr val="D4CE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CLOSING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18320" y="438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结语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881360" y="5989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16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11712" y="62636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7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1792" y="914400"/>
            <a:ext cx="164592" cy="164592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896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NOTE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1261872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时代真正需要坚持的，不是“人适应技术”</a:t>
            </a:r>
            <a:endParaRPr lang="en-US" sz="2196" dirty="0"/>
          </a:p>
          <a:p>
            <a:pPr algn="l" indent="0" marL="0">
              <a:buNone/>
            </a:pPr>
            <a:r>
              <a:rPr lang="en-US" sz="2196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而是“让技术进步服务于人的全面发展”</a:t>
            </a:r>
            <a:endParaRPr lang="en-US" sz="2196" dirty="0"/>
          </a:p>
        </p:txBody>
      </p:sp>
      <p:sp>
        <p:nvSpPr>
          <p:cNvPr id="12" name="Text 10"/>
          <p:cNvSpPr/>
          <p:nvPr/>
        </p:nvSpPr>
        <p:spPr>
          <a:xfrm>
            <a:off x="694944" y="2944368"/>
            <a:ext cx="681228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回到全文的出发点，主体性困境并不是抽象的哲学忧虑，而是已经发生在真实劳动场景中的现实问题。只有把技术治理放回人民立场、高质量充分就业与共同富裕的整体目标中，AI 时代的劳动世界才可能更公平、更有尊严，也更具创造性。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522208" y="1325880"/>
            <a:ext cx="1828800" cy="146304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22208" y="1600200"/>
            <a:ext cx="2651760" cy="146304"/>
          </a:xfrm>
          <a:prstGeom prst="rect">
            <a:avLst/>
          </a:prstGeom>
          <a:solidFill>
            <a:srgbClr val="4A5A37"/>
          </a:solidFill>
          <a:ln w="12700">
            <a:solidFill>
              <a:srgbClr val="4A5A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1874520"/>
            <a:ext cx="1188720" cy="146304"/>
          </a:xfrm>
          <a:prstGeom prst="rect">
            <a:avLst/>
          </a:prstGeom>
          <a:solidFill>
            <a:srgbClr val="E5DED0"/>
          </a:solidFill>
          <a:ln w="12700">
            <a:solidFill>
              <a:srgbClr val="E5DE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2743200"/>
            <a:ext cx="192024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16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答辩收束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95360" y="3593592"/>
            <a:ext cx="128016" cy="128016"/>
          </a:xfrm>
          <a:prstGeom prst="rect">
            <a:avLst/>
          </a:prstGeom>
          <a:solidFill>
            <a:srgbClr val="4A5A37"/>
          </a:solidFill>
          <a:ln w="12700">
            <a:solidFill>
              <a:srgbClr val="4A5A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1392" y="3520440"/>
            <a:ext cx="2560320" cy="45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问题意识：从替代焦虑转向主体性问题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95360" y="4279392"/>
            <a:ext cx="128016" cy="128016"/>
          </a:xfrm>
          <a:prstGeom prst="rect">
            <a:avLst/>
          </a:prstGeom>
          <a:solidFill>
            <a:srgbClr val="A1E44D"/>
          </a:solidFill>
          <a:ln w="12700">
            <a:solidFill>
              <a:srgbClr val="A1E4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1392" y="4206240"/>
            <a:ext cx="2743200" cy="45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理论支点：劳动异化 + 社会主体研究方法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95360" y="4965192"/>
            <a:ext cx="128016" cy="128016"/>
          </a:xfrm>
          <a:prstGeom prst="rect">
            <a:avLst/>
          </a:prstGeom>
          <a:solidFill>
            <a:srgbClr val="D96452"/>
          </a:solidFill>
          <a:ln w="12700">
            <a:solidFill>
              <a:srgbClr val="D964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1392" y="4892040"/>
            <a:ext cx="2560320" cy="45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2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价值结论：技术应服务人的发展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4944" y="5669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谢谢老师聆听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人工智能替代浪潮下被替代劳动者的主体性困境与重塑</dc:title>
  <dc:subject>马克思主义理论课程课堂答辩</dc:subject>
  <dc:creator>OpenAI Codex</dc:creator>
  <cp:lastModifiedBy>OpenAI Codex</cp:lastModifiedBy>
  <cp:revision>1</cp:revision>
  <dcterms:created xsi:type="dcterms:W3CDTF">2026-04-13T15:19:31Z</dcterms:created>
  <dcterms:modified xsi:type="dcterms:W3CDTF">2026-04-13T15:19:31Z</dcterms:modified>
</cp:coreProperties>
</file>